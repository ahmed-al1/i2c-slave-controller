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5" r:id="rId12"/>
    <p:sldId id="266" r:id="rId13"/>
    <p:sldId id="277" r:id="rId14"/>
    <p:sldId id="276" r:id="rId15"/>
    <p:sldId id="281" r:id="rId16"/>
    <p:sldId id="267" r:id="rId17"/>
    <p:sldId id="282" r:id="rId18"/>
    <p:sldId id="278" r:id="rId19"/>
    <p:sldId id="270" r:id="rId20"/>
    <p:sldId id="279" r:id="rId21"/>
    <p:sldId id="280" r:id="rId22"/>
    <p:sldId id="271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2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36397" y="502021"/>
            <a:ext cx="9688296" cy="16429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I²C Communication Protocol</a:t>
            </a:r>
            <a:endParaRPr lang="ar-SA"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6397" y="2418409"/>
            <a:ext cx="9688296" cy="3454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2000"/>
              <a:t>National Telecommunication Institute (NTI)</a:t>
            </a:r>
            <a:endParaRPr lang="ar-SA">
              <a:ea typeface="Calibri"/>
            </a:endParaRPr>
          </a:p>
          <a:p>
            <a:pPr algn="ctr" defTabSz="914400">
              <a:lnSpc>
                <a:spcPct val="90000"/>
              </a:lnSpc>
              <a:spcAft>
                <a:spcPts val="1000"/>
              </a:spcAft>
              <a:defRPr sz="2000"/>
            </a:pPr>
            <a:endParaRPr lang="en-US" sz="2000"/>
          </a:p>
          <a:p>
            <a:pPr algn="ctr" defTabSz="914400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2000"/>
              <a:t>Digital IC Design Using FPGA — RTL Implementation and Verification</a:t>
            </a:r>
            <a:endParaRPr lang="en-US" sz="2000">
              <a:ea typeface="Calibri"/>
              <a:cs typeface="Calibri"/>
            </a:endParaRPr>
          </a:p>
          <a:p>
            <a:pPr algn="ctr" defTabSz="914400">
              <a:lnSpc>
                <a:spcPct val="90000"/>
              </a:lnSpc>
              <a:spcAft>
                <a:spcPts val="1000"/>
              </a:spcAft>
              <a:defRPr sz="2000"/>
            </a:pPr>
            <a:endParaRPr lang="en-US" sz="2000"/>
          </a:p>
          <a:p>
            <a:pPr algn="ctr" defTabSz="914400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2000"/>
              <a:t>Team members :</a:t>
            </a:r>
            <a:endParaRPr lang="en-US" sz="2000">
              <a:ea typeface="Calibri"/>
              <a:cs typeface="Calibri"/>
            </a:endParaRPr>
          </a:p>
          <a:p>
            <a:pPr algn="ctr" defTabSz="914400">
              <a:lnSpc>
                <a:spcPct val="90000"/>
              </a:lnSpc>
              <a:defRPr sz="2000"/>
            </a:pPr>
            <a:r>
              <a:rPr lang="en-US" sz="2000"/>
              <a:t>Ahmed Shaaban </a:t>
            </a:r>
            <a:r>
              <a:rPr lang="en-US" sz="2000" err="1"/>
              <a:t>Elnegaar</a:t>
            </a:r>
            <a:endParaRPr lang="en-US" sz="2000" err="1">
              <a:ea typeface="Calibri"/>
              <a:cs typeface="Calibri"/>
            </a:endParaRPr>
          </a:p>
          <a:p>
            <a:pPr algn="ctr" defTabSz="914400">
              <a:lnSpc>
                <a:spcPct val="90000"/>
              </a:lnSpc>
              <a:defRPr sz="2000"/>
            </a:pPr>
            <a:r>
              <a:rPr lang="en-US" sz="2000"/>
              <a:t>Hazim Osama shams </a:t>
            </a:r>
            <a:r>
              <a:rPr lang="en-US" sz="2000" err="1"/>
              <a:t>elden</a:t>
            </a:r>
            <a:endParaRPr lang="en-US" sz="2000" err="1">
              <a:ea typeface="Calibri"/>
              <a:cs typeface="Calibri"/>
            </a:endParaRPr>
          </a:p>
          <a:p>
            <a:pPr algn="ctr" defTabSz="914400">
              <a:lnSpc>
                <a:spcPct val="90000"/>
              </a:lnSpc>
              <a:spcAft>
                <a:spcPts val="1000"/>
              </a:spcAft>
              <a:defRPr sz="2000"/>
            </a:pPr>
            <a:r>
              <a:rPr lang="en-US" sz="2000"/>
              <a:t>Mohamed Abdel Sadek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71" name="Rectangle 2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2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Introduction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I²C provides a simple synchronous serial interface using two shared lines: SDA and SCL.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The design contains an I²C Master, I²C Slave, clock-divider function, shared open-drain bus, FSM controllers, and verification testbench.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The system supports both write and read transactions.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The project verifies operation using a self-checking testbench.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1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Project Objectives</a:t>
            </a:r>
          </a:p>
        </p:txBody>
      </p:sp>
      <p:grpSp>
        <p:nvGrpSpPr>
          <p:cNvPr id="127" name="Group 1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1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Design a complete functional I²C communication system in Verilog HDL.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Implement both Master and Slave modules.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Support Master → Slave write transactions and Slave → Master read transactions.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Verify communication scenarios using a self-checking testbench.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Provide monitoring and debugging signals for internal 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I²C Protocol Fundamentals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I²C = Inter-Integrated Circuit protocol.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A synchronous serial communication protocol using a shared two-wire bus.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SCL: Serial Clock Line generated by the Master in this implementation.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SDA: Bidirectional Serial Data Line shared by all devices.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400"/>
              <a:t>Target implementation clock: 100 kHz SCL.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Open-Drain Bus Operation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828800"/>
            <a:ext cx="22860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Slave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28800"/>
            <a:ext cx="22860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Pull-Up</a:t>
            </a:r>
            <a:br/>
            <a:r>
              <a:t>Resistor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3291840"/>
            <a:ext cx="8412480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Devices can drive SDA LOW or release it to high impedance (Z).</a:t>
            </a:r>
          </a:p>
          <a:p>
            <a:pPr>
              <a:spcAft>
                <a:spcPts val="1000"/>
              </a:spcAft>
              <a:defRPr sz="1800"/>
            </a:pPr>
            <a:r>
              <a:t>No device actively drives SDA HIGH.</a:t>
            </a:r>
          </a:p>
          <a:p>
            <a:pPr>
              <a:spcAft>
                <a:spcPts val="1000"/>
              </a:spcAft>
              <a:defRPr sz="1800"/>
            </a:pPr>
            <a:r>
              <a:t>When all devices release SDA, the external pull-up resistor makes the bus HIGH.</a:t>
            </a:r>
          </a:p>
          <a:p>
            <a:pPr>
              <a:spcAft>
                <a:spcPts val="1000"/>
              </a:spcAft>
              <a:defRPr sz="1800"/>
            </a:pPr>
            <a:r>
              <a:t>The same principle is used for SCL in the implementation's bus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Transmission Rules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76A0E15B-132F-63A6-1CF1-78267FF110EE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• Data is transferred in 8-bit bytes.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• Bits are sampled while SCL is HIGH; SDA only changes when SCL is LOW.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• Standard transfer rates: 100 kbps (Standard mode) and 400 kbps (Fast mode). </a:t>
            </a: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BA88E726-C3C7-F34D-7493-5EB2EA6BA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87470"/>
            <a:ext cx="5150277" cy="2507814"/>
          </a:xfrm>
          <a:prstGeom prst="rect">
            <a:avLst/>
          </a:prstGeom>
        </p:spPr>
      </p:pic>
      <p:sp>
        <p:nvSpPr>
          <p:cNvPr id="12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02920"/>
            <a:ext cx="341985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START, STOP and ACK/NACK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01CE6E36-5BAB-1069-CF5D-DD1A63F04668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Start condition (S): SDA goes LOW while SCL is HIGH. This wakes the slaves.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 Stop condition (P): SDA goes HIGH while SCL is HIGH. This signals the end of communication. </a:t>
            </a: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987E0FB8-A01A-EE11-060A-0CDC623B4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19031"/>
            <a:ext cx="10917936" cy="3903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83F100FC-F778-222E-6D55-CB34CD48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753" y="1716754"/>
            <a:ext cx="8834493" cy="4629236"/>
          </a:xfrm>
          <a:prstGeom prst="rect">
            <a:avLst/>
          </a:prstGeom>
        </p:spPr>
      </p:pic>
      <p:sp>
        <p:nvSpPr>
          <p:cNvPr id="5" name="Rectangle 173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-1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0627507C-115A-E4D2-E27C-37BAE5212F41}"/>
              </a:ext>
            </a:extLst>
          </p:cNvPr>
          <p:cNvSpPr txBox="1"/>
          <p:nvPr/>
        </p:nvSpPr>
        <p:spPr>
          <a:xfrm>
            <a:off x="495852" y="267098"/>
            <a:ext cx="10515600" cy="9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7. Communication Sequence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1031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Clock Divider</a:t>
            </a:r>
            <a:br/>
            <a:r>
              <a:t>50 MHz → 100 kHz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1031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I²C Master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21031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Shared</a:t>
            </a:r>
            <a:br/>
            <a:r>
              <a:t>SDA / SCL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828800"/>
            <a:ext cx="21031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I²C Slave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Top level contains Master controller, Slave controller, clock-divider function, and shared SDA/SCL bus.</a:t>
            </a:r>
          </a:p>
          <a:p>
            <a:pPr>
              <a:spcAft>
                <a:spcPts val="1000"/>
              </a:spcAft>
              <a:defRPr sz="2000"/>
            </a:pPr>
            <a:r>
              <a:t>The Master initiates transactions and controls SCL.</a:t>
            </a:r>
          </a:p>
          <a:p>
            <a:pPr>
              <a:spcAft>
                <a:spcPts val="1000"/>
              </a:spcAft>
              <a:defRPr sz="2000"/>
            </a:pPr>
            <a:r>
              <a:t>The Slave monitors the bus and responds only when its address is detected.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9176F22B-C255-5009-A8B2-4C3F16D93F78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System </a:t>
            </a:r>
            <a:r>
              <a:rPr lang="en-US" sz="2200" b="1"/>
              <a:t>Architecrture</a:t>
            </a:r>
            <a:r>
              <a:rPr lang="en-US" sz="2200" b="1" dirty="0"/>
              <a:t> 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34F85CDD-04F7-7432-BDCA-75F936838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14736"/>
            <a:ext cx="6903720" cy="422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20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 Master FSM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8A9B0C65-41AD-DE13-BD8C-63B9434B7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428" y="2633472"/>
            <a:ext cx="9962095" cy="35863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10. Slave FSM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BE588087-35E8-B5DB-365E-16D8BA50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549" y="2289007"/>
            <a:ext cx="9600867" cy="39308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6A931788-1DC0-67EA-B295-1F3E235D2E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" r="29133" b="-1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73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A56A895F-12FF-D172-A5A2-064BDC693A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82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0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7E806-9592-E143-CA7F-FD0453BA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Background">
            <a:extLst>
              <a:ext uri="{FF2B5EF4-FFF2-40B4-BE49-F238E27FC236}">
                <a16:creationId xmlns:a16="http://schemas.microsoft.com/office/drawing/2014/main" id="{5968D0AB-E87D-3ECD-C656-7A09E7A5D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93543FDC-870D-6449-C283-AB01BB595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2DA9927A-C28E-5073-5015-D106177990DE}"/>
              </a:ext>
            </a:extLst>
          </p:cNvPr>
          <p:cNvSpPr txBox="1"/>
          <p:nvPr/>
        </p:nvSpPr>
        <p:spPr>
          <a:xfrm>
            <a:off x="589558" y="244742"/>
            <a:ext cx="7015498" cy="123522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Schematic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_master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325DA-43AC-48EB-04EB-5DA61CD64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413" y="1553497"/>
            <a:ext cx="7659169" cy="53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07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92430DF0-F104-F5F4-5E41-E9FA8556F3D7}"/>
              </a:ext>
            </a:extLst>
          </p:cNvPr>
          <p:cNvSpPr txBox="1"/>
          <p:nvPr/>
        </p:nvSpPr>
        <p:spPr>
          <a:xfrm>
            <a:off x="589558" y="244742"/>
            <a:ext cx="7015498" cy="123522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Schematic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_master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12D6F-A41B-FA52-2C83-9BF5FC12A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2344"/>
            <a:ext cx="12192000" cy="43133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4EAB8-58A7-1478-A66B-022773F7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Background">
            <a:extLst>
              <a:ext uri="{FF2B5EF4-FFF2-40B4-BE49-F238E27FC236}">
                <a16:creationId xmlns:a16="http://schemas.microsoft.com/office/drawing/2014/main" id="{847B5D47-57A0-3A59-57D9-82A089300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A1113123-5AFD-53BC-3913-A7E6EF1EC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F97530C6-7A62-9FA0-DCFD-0F648B85C8FE}"/>
              </a:ext>
            </a:extLst>
          </p:cNvPr>
          <p:cNvSpPr txBox="1"/>
          <p:nvPr/>
        </p:nvSpPr>
        <p:spPr>
          <a:xfrm>
            <a:off x="589558" y="244742"/>
            <a:ext cx="7015498" cy="123522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Schematic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_slave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4EA23-0E32-F8E9-236C-D640269B0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4242"/>
            <a:ext cx="12192000" cy="293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34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صورة 1">
            <a:extLst>
              <a:ext uri="{FF2B5EF4-FFF2-40B4-BE49-F238E27FC236}">
                <a16:creationId xmlns:a16="http://schemas.microsoft.com/office/drawing/2014/main" id="{F25F8A5F-FAB2-712B-F096-2F7D1BC9C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80" r="8974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63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E0BE9A07-8B28-1D03-8F6E-5478CFA0B3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18" b="1775"/>
          <a:stretch>
            <a:fillRect/>
          </a:stretch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21" name="Rectangle 15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مربع نص 3">
            <a:extLst>
              <a:ext uri="{FF2B5EF4-FFF2-40B4-BE49-F238E27FC236}">
                <a16:creationId xmlns:a16="http://schemas.microsoft.com/office/drawing/2014/main" id="{013A1DD5-1944-799F-9BAD-0B5396EFA2E0}"/>
              </a:ext>
            </a:extLst>
          </p:cNvPr>
          <p:cNvSpPr txBox="1"/>
          <p:nvPr/>
        </p:nvSpPr>
        <p:spPr>
          <a:xfrm>
            <a:off x="589556" y="5746071"/>
            <a:ext cx="7015499" cy="852260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Waveform </a:t>
            </a:r>
          </a:p>
        </p:txBody>
      </p:sp>
      <p:sp>
        <p:nvSpPr>
          <p:cNvPr id="7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5486402"/>
            <a:ext cx="12192000" cy="1371598"/>
          </a:xfrm>
          <a:prstGeom prst="rect">
            <a:avLst/>
          </a:prstGeom>
          <a:noFill/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A63F3C5-959A-3003-4B99-22DE40FD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644" y="643466"/>
            <a:ext cx="332871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82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7F3B2D28-7FDD-5AC3-3FE1-34405282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82" b="-980"/>
          <a:stretch>
            <a:fillRect/>
          </a:stretch>
        </p:blipFill>
        <p:spPr>
          <a:xfrm>
            <a:off x="1861551" y="1716066"/>
            <a:ext cx="8541973" cy="303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76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6A9D6BFA-503A-E4CC-6087-A09DF3652019}"/>
              </a:ext>
            </a:extLst>
          </p:cNvPr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30A3D30D-FCDF-2197-E645-1EECCC246005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Simulation confirmed: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 The master correctly initiates start/stop conditions.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 The slave acknowledges when addressed.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 Data transfers successfully between master and slave.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 ACK/NACK behavior matches specification.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 Debug signals help visualize FSM progression.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Widescreen</PresentationFormat>
  <Paragraphs>67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 Elnegar</cp:lastModifiedBy>
  <cp:revision>166</cp:revision>
  <dcterms:created xsi:type="dcterms:W3CDTF">2013-01-27T09:14:16Z</dcterms:created>
  <dcterms:modified xsi:type="dcterms:W3CDTF">2026-08-27T16:29:32Z</dcterms:modified>
  <cp:category/>
</cp:coreProperties>
</file>